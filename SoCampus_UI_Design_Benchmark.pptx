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732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7323B"/>
                </a:solidFill>
                <a:latin typeface="Arial"/>
              </a:rPr>
              <a:t>Occupancy by day (this week)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Occupancy %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6B7A8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61</c:v>
                </c:pt>
                <c:pt idx="1">
                  <c:v>74</c:v>
                </c:pt>
                <c:pt idx="2">
                  <c:v>78</c:v>
                </c:pt>
                <c:pt idx="3">
                  <c:v>72</c:v>
                </c:pt>
                <c:pt idx="4">
                  <c:v>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6B7A8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4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34440"/>
            <a:ext cx="2286000" cy="2286000"/>
          </a:xfrm>
          <a:prstGeom prst="roundRect">
            <a:avLst>
              <a:gd name="adj" fmla="val 7200"/>
            </a:avLst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" y="1600200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37360" y="1600200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31720" y="1600200"/>
            <a:ext cx="292608" cy="29260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194560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2194560"/>
            <a:ext cx="292608" cy="29260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31720" y="2194560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2788920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2788920"/>
            <a:ext cx="292608" cy="29260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31720" y="2788920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5544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SoCampus FM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657600" y="23317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B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 Direction &amp; Competitor Benchmark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57600" y="30632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Design-only deliverable - screens, patterns and visual system for the desk-booking enhancement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E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against Skedda - Eptura Engage - WorkInSync - NeOffice - Bookker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6035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Mobilise App Lab - August 2026 - prepared for Figma handoff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benchmarked products look &amp; feel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identity and first-screen pattern of each competitor (from product pages, help docs, app stores)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121408" cy="5029200"/>
          </a:xfrm>
          <a:prstGeom prst="roundRect">
            <a:avLst>
              <a:gd name="adj" fmla="val 3448"/>
            </a:avLst>
          </a:prstGeom>
          <a:solidFill>
            <a:srgbClr val="F5FAFA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9304" y="1554480"/>
            <a:ext cx="548640" cy="548640"/>
          </a:xfrm>
          <a:prstGeom prst="ellipse">
            <a:avLst/>
          </a:prstGeom>
          <a:solidFill>
            <a:srgbClr val="1F70EC"/>
          </a:solidFill>
          <a:ln/>
        </p:spPr>
      </p:sp>
      <p:sp>
        <p:nvSpPr>
          <p:cNvPr id="6" name="Text 4"/>
          <p:cNvSpPr/>
          <p:nvPr/>
        </p:nvSpPr>
        <p:spPr>
          <a:xfrm>
            <a:off x="1289304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76072" y="2212848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Skedda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0936" y="2606040"/>
            <a:ext cx="1883664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 </a:t>
            </a:r>
            <a:pPr indent="0" marL="0">
              <a:buNone/>
            </a:pPr>
            <a:r>
              <a:rPr lang="en-US" sz="10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Consumer-clean, airy white, brand blue #005FE6
</a:t>
            </a:r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screen  </a:t>
            </a:r>
            <a:pPr indent="0" marL="0">
              <a:buNone/>
            </a:pPr>
            <a:r>
              <a:rPr lang="en-US" sz="10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grid first: spaces x time; Day / Grid / List / Map view switcher
</a:t>
            </a:r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 </a:t>
            </a:r>
            <a:pPr indent="0" marL="0">
              <a:buNone/>
            </a:pPr>
            <a:r>
              <a:rPr lang="en-US" sz="10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Draggable booking blocks on a time grid; avatars shown on the map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07208" y="1325880"/>
            <a:ext cx="2121408" cy="5029200"/>
          </a:xfrm>
          <a:prstGeom prst="roundRect">
            <a:avLst>
              <a:gd name="adj" fmla="val 3448"/>
            </a:avLst>
          </a:prstGeom>
          <a:solidFill>
            <a:srgbClr val="F5FAFA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93592" y="1554480"/>
            <a:ext cx="548640" cy="548640"/>
          </a:xfrm>
          <a:prstGeom prst="ellipse">
            <a:avLst/>
          </a:prstGeom>
          <a:solidFill>
            <a:srgbClr val="5B2D86"/>
          </a:solidFill>
          <a:ln/>
        </p:spPr>
      </p:sp>
      <p:sp>
        <p:nvSpPr>
          <p:cNvPr id="11" name="Text 9"/>
          <p:cNvSpPr/>
          <p:nvPr/>
        </p:nvSpPr>
        <p:spPr>
          <a:xfrm>
            <a:off x="3593592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880360" y="2212848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Eptura Engage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35224" y="2606040"/>
            <a:ext cx="1883664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 </a:t>
            </a:r>
            <a:pPr indent="0" marL="0">
              <a:buNone/>
            </a:pPr>
            <a:r>
              <a:rPr lang="en-US" sz="10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Enterprise-dense web, polished mobile; light/dark app icons
</a:t>
            </a:r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screen  </a:t>
            </a:r>
            <a:pPr indent="0" marL="0">
              <a:buNone/>
            </a:pPr>
            <a:r>
              <a:rPr lang="en-US" sz="10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'Today' screen: your status, your booking, its floor-plan location
</a:t>
            </a:r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 </a:t>
            </a:r>
            <a:pPr indent="0" marL="0">
              <a:buNone/>
            </a:pPr>
            <a:r>
              <a:rPr lang="en-US" sz="10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switcher -&gt; AI books a desk for you; QR + geofence check-in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11496" y="1325880"/>
            <a:ext cx="2121408" cy="5029200"/>
          </a:xfrm>
          <a:prstGeom prst="roundRect">
            <a:avLst>
              <a:gd name="adj" fmla="val 3448"/>
            </a:avLst>
          </a:prstGeom>
          <a:solidFill>
            <a:srgbClr val="F5FAFA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97880" y="1554480"/>
            <a:ext cx="548640" cy="548640"/>
          </a:xfrm>
          <a:prstGeom prst="ellipse">
            <a:avLst/>
          </a:prstGeom>
          <a:solidFill>
            <a:srgbClr val="2E5FA3"/>
          </a:solidFill>
          <a:ln/>
        </p:spPr>
      </p:sp>
      <p:sp>
        <p:nvSpPr>
          <p:cNvPr id="16" name="Text 14"/>
          <p:cNvSpPr/>
          <p:nvPr/>
        </p:nvSpPr>
        <p:spPr>
          <a:xfrm>
            <a:off x="58978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184648" y="2212848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WorkInSync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39512" y="2606040"/>
            <a:ext cx="1883664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 </a:t>
            </a:r>
            <a:pPr indent="0" marL="0">
              <a:buNone/>
            </a:pPr>
            <a:r>
              <a:rPr lang="en-US" sz="10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Card-based, blue-led, module-heavy super-app
</a:t>
            </a:r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screen  </a:t>
            </a:r>
            <a:pPr indent="0" marL="0">
              <a:buNone/>
            </a:pPr>
            <a:r>
              <a:rPr lang="en-US" sz="10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Schedule-first: plan office days -&gt; Team Calendar -&gt; pick desk
</a:t>
            </a:r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 </a:t>
            </a:r>
            <a:pPr indent="0" marL="0">
              <a:buNone/>
            </a:pPr>
            <a:r>
              <a:rPr lang="en-US" sz="10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Kiosk tablets; neighborhoods; amenity chips as filters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15784" y="1325880"/>
            <a:ext cx="2121408" cy="5029200"/>
          </a:xfrm>
          <a:prstGeom prst="roundRect">
            <a:avLst>
              <a:gd name="adj" fmla="val 3448"/>
            </a:avLst>
          </a:prstGeom>
          <a:solidFill>
            <a:srgbClr val="F5FAFA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02168" y="1554480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21" name="Text 19"/>
          <p:cNvSpPr/>
          <p:nvPr/>
        </p:nvSpPr>
        <p:spPr>
          <a:xfrm>
            <a:off x="8202168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88936" y="2212848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NeOffice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43800" y="2606040"/>
            <a:ext cx="1883664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 </a:t>
            </a:r>
            <a:pPr indent="0" marL="0">
              <a:buNone/>
            </a:pPr>
            <a:r>
              <a:rPr lang="en-US" sz="10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Material-ish utility app, blue/teal on white
</a:t>
            </a:r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screen  </a:t>
            </a:r>
            <a:pPr indent="0" marL="0">
              <a:buNone/>
            </a:pPr>
            <a:r>
              <a:rPr lang="en-US" sz="10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tiles: Office Seat, Rooms, Cafeteria, Parking, Transport
</a:t>
            </a:r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 </a:t>
            </a:r>
            <a:pPr indent="0" marL="0">
              <a:buNone/>
            </a:pPr>
            <a:r>
              <a:rPr lang="en-US" sz="10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Pass (QR gate pass); rostering for teams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720072" y="1325880"/>
            <a:ext cx="2121408" cy="5029200"/>
          </a:xfrm>
          <a:prstGeom prst="roundRect">
            <a:avLst>
              <a:gd name="adj" fmla="val 3448"/>
            </a:avLst>
          </a:prstGeom>
          <a:solidFill>
            <a:srgbClr val="F5FAFA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06456" y="1554480"/>
            <a:ext cx="548640" cy="548640"/>
          </a:xfrm>
          <a:prstGeom prst="ellipse">
            <a:avLst/>
          </a:prstGeom>
          <a:solidFill>
            <a:srgbClr val="E85D4A"/>
          </a:solidFill>
          <a:ln/>
        </p:spPr>
      </p:sp>
      <p:sp>
        <p:nvSpPr>
          <p:cNvPr id="26" name="Text 24"/>
          <p:cNvSpPr/>
          <p:nvPr/>
        </p:nvSpPr>
        <p:spPr>
          <a:xfrm>
            <a:off x="10506456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793224" y="2212848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Bookker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848088" y="2606040"/>
            <a:ext cx="1883664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 </a:t>
            </a:r>
            <a:pPr indent="0" marL="0">
              <a:buNone/>
            </a:pPr>
            <a:r>
              <a:rPr lang="en-US" sz="10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Mobile-first, camera-forward, AR identity
</a:t>
            </a:r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screen  </a:t>
            </a:r>
            <a:pPr indent="0" marL="0">
              <a:buNone/>
            </a:pPr>
            <a:r>
              <a:rPr lang="en-US" sz="10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from app home or point camera at desk tag (AR)
</a:t>
            </a:r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 </a:t>
            </a:r>
            <a:pPr indent="0" marL="0">
              <a:buNone/>
            </a:pPr>
            <a:r>
              <a:rPr lang="en-US" sz="10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overlay shows live desk status through the camera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every good desk-booking UI shares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conventions observed across all five products - our design adopts all seven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532120" cy="1115568"/>
          </a:xfrm>
          <a:prstGeom prst="roundRect">
            <a:avLst>
              <a:gd name="adj" fmla="val 5738"/>
            </a:avLst>
          </a:prstGeom>
          <a:solidFill>
            <a:srgbClr val="F5FAFA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67335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673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481328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Map-first booking
</a:t>
            </a:r>
            <a:pPr indent="0" marL="0">
              <a:buNone/>
            </a:pPr>
            <a:r>
              <a:rPr lang="en-US" sz="10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2D floor plan is the primary selector; list/grid are secondary views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371600"/>
            <a:ext cx="5532120" cy="1115568"/>
          </a:xfrm>
          <a:prstGeom prst="roundRect">
            <a:avLst>
              <a:gd name="adj" fmla="val 5738"/>
            </a:avLst>
          </a:prstGeom>
          <a:solidFill>
            <a:srgbClr val="F5FAFA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73952" y="167335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473952" y="1673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32320" y="1481328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Traffic-light desk states
</a:t>
            </a:r>
            <a:pPr indent="0" marL="0">
              <a:buNone/>
            </a:pPr>
            <a:r>
              <a:rPr lang="en-US" sz="10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available - grey/red occupied - amber pending/restricted, always with a legend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2670048"/>
            <a:ext cx="5532120" cy="1115568"/>
          </a:xfrm>
          <a:prstGeom prst="roundRect">
            <a:avLst>
              <a:gd name="adj" fmla="val 5738"/>
            </a:avLst>
          </a:prstGeom>
          <a:solidFill>
            <a:srgbClr val="F5FAFA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" y="29718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2779776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picker pinned on top
</a:t>
            </a:r>
            <a:pPr indent="0" marL="0">
              <a:buNone/>
            </a:pPr>
            <a:r>
              <a:rPr lang="en-US" sz="10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re-renders per selected day/time window; filters as chips, not forms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09360" y="2670048"/>
            <a:ext cx="5532120" cy="1115568"/>
          </a:xfrm>
          <a:prstGeom prst="roundRect">
            <a:avLst>
              <a:gd name="adj" fmla="val 5738"/>
            </a:avLst>
          </a:prstGeom>
          <a:solidFill>
            <a:srgbClr val="F5FAFA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3952" y="29718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32320" y="2779776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'Who's in' social layer
</a:t>
            </a:r>
            <a:pPr indent="0" marL="0">
              <a:buNone/>
            </a:pPr>
            <a:r>
              <a:rPr lang="en-US" sz="10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 avatars on the map + who's-in-today strip; most-praised feature in reviews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02920" y="3968496"/>
            <a:ext cx="5532120" cy="1115568"/>
          </a:xfrm>
          <a:prstGeom prst="roundRect">
            <a:avLst>
              <a:gd name="adj" fmla="val 5738"/>
            </a:avLst>
          </a:prstGeom>
          <a:solidFill>
            <a:srgbClr val="F5FAFA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" y="427024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" y="4270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25880" y="4078224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as a light moment
</a:t>
            </a:r>
            <a:pPr indent="0" marL="0">
              <a:buNone/>
            </a:pPr>
            <a:r>
              <a:rPr lang="en-US" sz="10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tap, QR scan or invisible (Wi-Fi/geo) - paired with auto-release + nudges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309360" y="3968496"/>
            <a:ext cx="5532120" cy="1115568"/>
          </a:xfrm>
          <a:prstGeom prst="roundRect">
            <a:avLst>
              <a:gd name="adj" fmla="val 5738"/>
            </a:avLst>
          </a:prstGeom>
          <a:solidFill>
            <a:srgbClr val="F5FAFA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73952" y="427024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6473952" y="4270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32320" y="4078224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= sheet, not journey
</a:t>
            </a:r>
            <a:pPr indent="0" marL="0">
              <a:buNone/>
            </a:pPr>
            <a:r>
              <a:rPr lang="en-US" sz="10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modal/bottom-sheet with smart defaults; &gt;3 steps gets called 'time-consuming'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02920" y="5266944"/>
            <a:ext cx="5532120" cy="1115568"/>
          </a:xfrm>
          <a:prstGeom prst="roundRect">
            <a:avLst>
              <a:gd name="adj" fmla="val 5738"/>
            </a:avLst>
          </a:prstGeom>
          <a:solidFill>
            <a:srgbClr val="E6F3F4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7512" y="556869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" y="5568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325880" y="5376672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Amenity chips as filters
</a:t>
            </a:r>
            <a:pPr indent="0" marL="0">
              <a:buNone/>
            </a:pPr>
            <a:r>
              <a:rPr lang="en-US" sz="10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monitor, standing desk, docking station as tappable filter chips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review-sourced mistakes we design against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complaints from competitor app-store / G2 reviews - each becomes a design rule for us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201400" cy="896112"/>
          </a:xfrm>
          <a:prstGeom prst="roundRect">
            <a:avLst>
              <a:gd name="adj" fmla="val 6122"/>
            </a:avLst>
          </a:prstGeom>
          <a:solidFill>
            <a:srgbClr val="F5FAFA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17904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17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371600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lags web   </a:t>
            </a:r>
            <a:pPr indent="0" marL="0">
              <a:buNone/>
            </a:pPr>
            <a:r>
              <a:rPr lang="en-US" sz="10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WorkInSync's app is 'less responsive than web'; Condeco maps lag on weak networks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92440" y="137160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skeleton loaders + lightweight SVG maps; map payload &lt; 200 KB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340864"/>
            <a:ext cx="11201400" cy="896112"/>
          </a:xfrm>
          <a:prstGeom prst="roundRect">
            <a:avLst>
              <a:gd name="adj" fmla="val 6122"/>
            </a:avLst>
          </a:prstGeom>
          <a:solidFill>
            <a:srgbClr val="F5FAFA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560320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2414016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break the happy path   </a:t>
            </a:r>
            <a:pPr indent="0" marL="0">
              <a:buNone/>
            </a:pPr>
            <a:r>
              <a:rPr lang="en-US" sz="10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Bookker update broke future-date booking; NeOffice seat booking stuck loading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92440" y="2414016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book-a-desk flow is regression-tested on every release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383280"/>
            <a:ext cx="11201400" cy="896112"/>
          </a:xfrm>
          <a:prstGeom prst="roundRect">
            <a:avLst>
              <a:gd name="adj" fmla="val 6122"/>
            </a:avLst>
          </a:prstGeom>
          <a:solidFill>
            <a:srgbClr val="F5FAFA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602736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3456432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First-run traps   </a:t>
            </a:r>
            <a:pPr indent="0" marL="0">
              <a:buNone/>
            </a:pPr>
            <a:r>
              <a:rPr lang="en-US" sz="10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Eptura's country-picker loop forced delete-and-reinstall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92440" y="3456432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home screen never gated behind a blocking preference step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425696"/>
            <a:ext cx="11201400" cy="896112"/>
          </a:xfrm>
          <a:prstGeom prst="roundRect">
            <a:avLst>
              <a:gd name="adj" fmla="val 6122"/>
            </a:avLst>
          </a:prstGeom>
          <a:solidFill>
            <a:srgbClr val="F5FAFA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645152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4498848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context, taps-per-person   </a:t>
            </a:r>
            <a:pPr indent="0" marL="0">
              <a:buNone/>
            </a:pPr>
            <a:r>
              <a:rPr lang="en-US" sz="10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team page needs a tap per member to see their desk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92440" y="449884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location shown inline on every people list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5468112"/>
            <a:ext cx="11201400" cy="896112"/>
          </a:xfrm>
          <a:prstGeom prst="roundRect">
            <a:avLst>
              <a:gd name="adj" fmla="val 6122"/>
            </a:avLst>
          </a:prstGeom>
          <a:solidFill>
            <a:srgbClr val="F5FAFA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5687568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5687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25880" y="5541264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state mismatches   </a:t>
            </a:r>
            <a:pPr indent="0" marL="0">
              <a:buNone/>
            </a:pPr>
            <a:r>
              <a:rPr lang="en-US" sz="10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WorkInSync users booked one date, got another, flagged as no-shows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92440" y="5541264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confirmations echo DATE + DESK loudly; audit log settles disputes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SoCampus FM design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set for Figma - colors, type, desk states, core components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tokens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7323B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91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 / text  </a:t>
            </a:r>
            <a:pPr indent="0" marL="0">
              <a:buNone/>
            </a:pPr>
            <a:r>
              <a:rPr lang="en-US" sz="11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#17323B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25856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25856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teal  </a:t>
            </a:r>
            <a:pPr indent="0" marL="0">
              <a:buNone/>
            </a:pPr>
            <a:r>
              <a:rPr lang="en-US" sz="11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#028090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825496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B4F5C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82549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surface  </a:t>
            </a:r>
            <a:pPr indent="0" marL="0">
              <a:buNone/>
            </a:pPr>
            <a:r>
              <a:rPr lang="en-US" sz="11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#0B4F5C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3392424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2C39A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39242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 - available / success  </a:t>
            </a:r>
            <a:pPr indent="0" marL="0">
              <a:buNone/>
            </a:pPr>
            <a:r>
              <a:rPr lang="en-US" sz="11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#02C39A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959352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4A261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95935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- pending / warning  </a:t>
            </a:r>
            <a:pPr indent="0" marL="0">
              <a:buNone/>
            </a:pPr>
            <a:r>
              <a:rPr lang="en-US" sz="11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#F4A261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45262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76F51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526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Coral - occupied / blocked  </a:t>
            </a:r>
            <a:pPr indent="0" marL="0">
              <a:buNone/>
            </a:pPr>
            <a:r>
              <a:rPr lang="en-US" sz="11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#E76F51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509320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6F3F4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509320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Tint background  </a:t>
            </a:r>
            <a:pPr indent="0" marL="0">
              <a:buNone/>
            </a:pPr>
            <a:r>
              <a:rPr lang="en-US" sz="11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#E6F3F4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0" y="164592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5852160" y="169164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/ system sans (Figma)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24 semibold - H2 18 semibold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14 - Caption 12 grey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Numbers: tabular for dashboards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3017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states (map legend)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0" y="3483864"/>
            <a:ext cx="274320" cy="274320"/>
          </a:xfrm>
          <a:prstGeom prst="ellipse">
            <a:avLst/>
          </a:prstGeom>
          <a:solidFill>
            <a:srgbClr val="02C39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4290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37960" y="3483864"/>
            <a:ext cx="274320" cy="274320"/>
          </a:xfrm>
          <a:prstGeom prst="ellipse">
            <a:avLst/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34290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Yours today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0" y="3986784"/>
            <a:ext cx="274320" cy="274320"/>
          </a:xfrm>
          <a:prstGeom prst="ellipse">
            <a:avLst/>
          </a:prstGeom>
          <a:solidFill>
            <a:srgbClr val="E76F5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93192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Occupied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537960" y="3986784"/>
            <a:ext cx="274320" cy="274320"/>
          </a:xfrm>
          <a:prstGeom prst="ellipse">
            <a:avLst/>
          </a:prstGeom>
          <a:solidFill>
            <a:srgbClr val="F4A2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393192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approval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0" y="4489704"/>
            <a:ext cx="274320" cy="274320"/>
          </a:xfrm>
          <a:prstGeom prst="ellipse">
            <a:avLst/>
          </a:prstGeom>
          <a:solidFill>
            <a:srgbClr val="9AA7A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443484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/ maintenance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537960" y="4489704"/>
            <a:ext cx="274320" cy="274320"/>
          </a:xfrm>
          <a:prstGeom prst="ellipse">
            <a:avLst/>
          </a:prstGeom>
          <a:solidFill>
            <a:srgbClr val="C9B45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03720" y="443484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/ hidden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732520" y="12801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8732520" y="169164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7" name="Text 35"/>
          <p:cNvSpPr/>
          <p:nvPr/>
        </p:nvSpPr>
        <p:spPr>
          <a:xfrm>
            <a:off x="8732520" y="1691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0607040" y="169164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E6F3F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607040" y="1691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monitor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732520" y="2331720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FFF4E8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869680" y="23317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 by 9:15 </a:t>
            </a:r>
            <a:pPr indent="0" marL="0">
              <a:buNone/>
            </a:pPr>
            <a:r>
              <a:rPr lang="en-US" sz="11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desk D-14 releases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732520" y="3291840"/>
            <a:ext cx="1554480" cy="1051560"/>
          </a:xfrm>
          <a:prstGeom prst="roundRect">
            <a:avLst>
              <a:gd name="adj" fmla="val 6957"/>
            </a:avLst>
          </a:prstGeom>
          <a:solidFill>
            <a:srgbClr val="F5FAFA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823960" y="3364992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
</a:t>
            </a:r>
            <a:pPr indent="0" marL="0">
              <a:buNone/>
            </a:pPr>
            <a:r>
              <a:rPr lang="en-US" sz="10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1046988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in strip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0469880" y="3611880"/>
            <a:ext cx="347472" cy="347472"/>
          </a:xfrm>
          <a:prstGeom prst="ellipse">
            <a:avLst/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469880" y="3611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0853928" y="3611880"/>
            <a:ext cx="347472" cy="347472"/>
          </a:xfrm>
          <a:prstGeom prst="ellipse">
            <a:avLst/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853928" y="3611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1237976" y="3611880"/>
            <a:ext cx="347472" cy="347472"/>
          </a:xfrm>
          <a:prstGeom prst="ellipse">
            <a:avLst/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237976" y="3611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1622024" y="3611880"/>
            <a:ext cx="347472" cy="347472"/>
          </a:xfrm>
          <a:prstGeom prst="ellipse">
            <a:avLst/>
          </a:prstGeom>
          <a:solidFill>
            <a:srgbClr val="E6F3F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622024" y="3611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02920" y="61722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one dominant teal, mint reserved for 'available', coral only for occupied/destructive - color always carries meaning on the map.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1 - Home: 'Today' at a glance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Adopts Eptura's Today pattern + Skedda's clarity; nothing gates the home screen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740664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9050">
            <a:solidFill>
              <a:srgbClr val="B9CB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7406640" cy="292608"/>
          </a:xfrm>
          <a:prstGeom prst="rect">
            <a:avLst/>
          </a:prstGeom>
          <a:solidFill>
            <a:srgbClr val="EDF3F3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463040"/>
            <a:ext cx="109728" cy="109728"/>
          </a:xfrm>
          <a:prstGeom prst="ellipse">
            <a:avLst/>
          </a:prstGeom>
          <a:solidFill>
            <a:srgbClr val="C4D4D4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63040"/>
            <a:ext cx="109728" cy="109728"/>
          </a:xfrm>
          <a:prstGeom prst="ellipse">
            <a:avLst/>
          </a:prstGeom>
          <a:solidFill>
            <a:srgbClr val="C4D4D4"/>
          </a:solidFill>
          <a:ln/>
        </p:spPr>
      </p:sp>
      <p:sp>
        <p:nvSpPr>
          <p:cNvPr id="8" name="Shape 6"/>
          <p:cNvSpPr/>
          <p:nvPr/>
        </p:nvSpPr>
        <p:spPr>
          <a:xfrm>
            <a:off x="941832" y="1463040"/>
            <a:ext cx="109728" cy="109728"/>
          </a:xfrm>
          <a:prstGeom prst="ellipse">
            <a:avLst/>
          </a:prstGeom>
          <a:solidFill>
            <a:srgbClr val="C4D4D4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1389888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socampus.app / home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77240" y="19202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E6F3F4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0116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- Thu 20 Aug
</a:t>
            </a:r>
            <a:pPr indent="0" marL="0">
              <a:buNone/>
            </a:pPr>
            <a:r>
              <a:rPr lang="en-US" sz="160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D-14 - Floor 3, HQ
</a:t>
            </a:r>
            <a:pPr indent="0" marL="0">
              <a:buNone/>
            </a:pPr>
            <a:r>
              <a:rPr lang="en-US" sz="11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9:00-18:00 - approved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03320" y="2423160"/>
            <a:ext cx="914400" cy="411480"/>
          </a:xfrm>
          <a:prstGeom prst="roundRect">
            <a:avLst>
              <a:gd name="adj" fmla="val 48889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24231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" y="361188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FF4E8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6118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 by 9:15 or D-14 will be released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4343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in today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4663440"/>
            <a:ext cx="384048" cy="384048"/>
          </a:xfrm>
          <a:prstGeom prst="ellipse">
            <a:avLst/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280160" y="4663440"/>
            <a:ext cx="384048" cy="384048"/>
          </a:xfrm>
          <a:prstGeom prst="ellipse">
            <a:avLst/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737360" y="4663440"/>
            <a:ext cx="384048" cy="384048"/>
          </a:xfrm>
          <a:prstGeom prst="ellipse">
            <a:avLst/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3736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94560" y="4663440"/>
            <a:ext cx="384048" cy="384048"/>
          </a:xfrm>
          <a:prstGeom prst="ellipse">
            <a:avLst/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456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651760" y="4663440"/>
            <a:ext cx="384048" cy="384048"/>
          </a:xfrm>
          <a:prstGeom prst="ellipse">
            <a:avLst/>
          </a:prstGeom>
          <a:solidFill>
            <a:srgbClr val="E6F3F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" y="5120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+ desk shown inline (no tap-per-person)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20640" y="1920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book - Floor 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120640" y="2240280"/>
            <a:ext cx="2514600" cy="2286000"/>
          </a:xfrm>
          <a:prstGeom prst="roundRect">
            <a:avLst>
              <a:gd name="adj" fmla="val 2000"/>
            </a:avLst>
          </a:prstGeom>
          <a:solidFill>
            <a:srgbClr val="FBFDFD"/>
          </a:solidFill>
          <a:ln w="12700">
            <a:solidFill>
              <a:srgbClr val="C4D4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03520" y="246888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F1F6F6"/>
          </a:solidFill>
          <a:ln w="9525">
            <a:solidFill>
              <a:srgbClr val="C4D4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04104" y="251460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79008" y="246888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F1F6F6"/>
          </a:solidFill>
          <a:ln w="9525">
            <a:solidFill>
              <a:srgbClr val="C4D4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79592" y="2514600"/>
            <a:ext cx="182880" cy="1828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54496" y="246888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F1F6F6"/>
          </a:solidFill>
          <a:ln w="9525">
            <a:solidFill>
              <a:srgbClr val="C4D4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55080" y="251460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03520" y="288036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F1F6F6"/>
          </a:solidFill>
          <a:ln w="9525">
            <a:solidFill>
              <a:srgbClr val="C4D4D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04104" y="292608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79008" y="288036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F1F6F6"/>
          </a:solidFill>
          <a:ln w="9525">
            <a:solidFill>
              <a:srgbClr val="C4D4D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79592" y="292608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54496" y="288036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F1F6F6"/>
          </a:solidFill>
          <a:ln w="9525">
            <a:solidFill>
              <a:srgbClr val="C4D4D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55080" y="2926080"/>
            <a:ext cx="182880" cy="1828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03520" y="329184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F1F6F6"/>
          </a:solidFill>
          <a:ln w="9525">
            <a:solidFill>
              <a:srgbClr val="C4D4D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04104" y="3337560"/>
            <a:ext cx="182880" cy="1828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779008" y="329184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F1F6F6"/>
          </a:solidFill>
          <a:ln w="9525">
            <a:solidFill>
              <a:srgbClr val="C4D4D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79592" y="333756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54496" y="329184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F1F6F6"/>
          </a:solidFill>
          <a:ln w="9525">
            <a:solidFill>
              <a:srgbClr val="C4D4D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55080" y="333756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303520" y="370332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F1F6F6"/>
          </a:solidFill>
          <a:ln w="9525">
            <a:solidFill>
              <a:srgbClr val="C4D4D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404104" y="374904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779008" y="370332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F1F6F6"/>
          </a:solidFill>
          <a:ln w="9525">
            <a:solidFill>
              <a:srgbClr val="C4D4D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879592" y="3749040"/>
            <a:ext cx="182880" cy="182880"/>
          </a:xfrm>
          <a:prstGeom prst="ellipse">
            <a:avLst/>
          </a:prstGeom>
          <a:solidFill>
            <a:srgbClr val="9AA7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54496" y="370332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F1F6F6"/>
          </a:solidFill>
          <a:ln w="9525">
            <a:solidFill>
              <a:srgbClr val="C4D4D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55080" y="374904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66360" y="4572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any green desk -&gt; booking sheet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229600" y="1463040"/>
            <a:ext cx="3474720" cy="1078992"/>
          </a:xfrm>
          <a:prstGeom prst="roundRect">
            <a:avLst>
              <a:gd name="adj" fmla="val 5932"/>
            </a:avLst>
          </a:prstGeom>
          <a:solidFill>
            <a:srgbClr val="F5FAFA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66760" y="1536192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card
</a:t>
            </a:r>
            <a:pPr indent="0" marL="0">
              <a:buNone/>
            </a:pPr>
            <a:r>
              <a:rPr lang="en-US" sz="10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booking + location + the ONE action that matters now (check in)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8229600" y="2688336"/>
            <a:ext cx="3474720" cy="1078992"/>
          </a:xfrm>
          <a:prstGeom prst="roundRect">
            <a:avLst>
              <a:gd name="adj" fmla="val 5932"/>
            </a:avLst>
          </a:prstGeom>
          <a:solidFill>
            <a:srgbClr val="F5FAFA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366760" y="2761488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countdown banner
</a:t>
            </a:r>
            <a:pPr indent="0" marL="0">
              <a:buNone/>
            </a:pPr>
            <a:r>
              <a:rPr lang="en-US" sz="10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Amber, explicit time, names the desk - no silent releases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8229600" y="3913632"/>
            <a:ext cx="3474720" cy="1078992"/>
          </a:xfrm>
          <a:prstGeom prst="roundRect">
            <a:avLst>
              <a:gd name="adj" fmla="val 5932"/>
            </a:avLst>
          </a:prstGeom>
          <a:solidFill>
            <a:srgbClr val="F5FAFA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366760" y="3986784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Who's-in strip
</a:t>
            </a:r>
            <a:pPr indent="0" marL="0">
              <a:buNone/>
            </a:pPr>
            <a:r>
              <a:rPr lang="en-US" sz="10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proof; locations inline (anti-pattern fix from Eptura reviews)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8229600" y="5138928"/>
            <a:ext cx="3474720" cy="1078992"/>
          </a:xfrm>
          <a:prstGeom prst="roundRect">
            <a:avLst>
              <a:gd name="adj" fmla="val 5932"/>
            </a:avLst>
          </a:prstGeom>
          <a:solidFill>
            <a:srgbClr val="F5FAFA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366760" y="52120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Quick-book mini map
</a:t>
            </a:r>
            <a:pPr indent="0" marL="0">
              <a:buNone/>
            </a:pPr>
            <a:r>
              <a:rPr lang="en-US" sz="10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from home to a desk; full map one level deeper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2 - Live floor map &amp; seat picker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our existing SVG DeskPicker to floor level; Skedda-style day chips + amenity filters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740664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9050">
            <a:solidFill>
              <a:srgbClr val="B9CB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7406640" cy="292608"/>
          </a:xfrm>
          <a:prstGeom prst="rect">
            <a:avLst/>
          </a:prstGeom>
          <a:solidFill>
            <a:srgbClr val="EDF3F3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463040"/>
            <a:ext cx="109728" cy="109728"/>
          </a:xfrm>
          <a:prstGeom prst="ellipse">
            <a:avLst/>
          </a:prstGeom>
          <a:solidFill>
            <a:srgbClr val="C4D4D4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63040"/>
            <a:ext cx="109728" cy="109728"/>
          </a:xfrm>
          <a:prstGeom prst="ellipse">
            <a:avLst/>
          </a:prstGeom>
          <a:solidFill>
            <a:srgbClr val="C4D4D4"/>
          </a:solidFill>
          <a:ln/>
        </p:spPr>
      </p:sp>
      <p:sp>
        <p:nvSpPr>
          <p:cNvPr id="8" name="Shape 6"/>
          <p:cNvSpPr/>
          <p:nvPr/>
        </p:nvSpPr>
        <p:spPr>
          <a:xfrm>
            <a:off x="941832" y="1463040"/>
            <a:ext cx="109728" cy="109728"/>
          </a:xfrm>
          <a:prstGeom prst="ellipse">
            <a:avLst/>
          </a:prstGeom>
          <a:solidFill>
            <a:srgbClr val="C4D4D4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1389888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socampus.app / floors / hq-3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77240" y="182880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82880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20 Aug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20240" y="182880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0" y="182880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9:00-18:00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63240" y="1828800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63240" y="18288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931920" y="182880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E6F3F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18288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monitor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66360" y="182880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E6F3F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182880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team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77240" y="2377440"/>
            <a:ext cx="5486400" cy="3566160"/>
          </a:xfrm>
          <a:prstGeom prst="roundRect">
            <a:avLst>
              <a:gd name="adj" fmla="val 1282"/>
            </a:avLst>
          </a:prstGeom>
          <a:solidFill>
            <a:srgbClr val="FBFDFD"/>
          </a:solidFill>
          <a:ln w="12700">
            <a:solidFill>
              <a:srgbClr val="C4D4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2560320"/>
            <a:ext cx="2377440" cy="1463040"/>
          </a:xfrm>
          <a:prstGeom prst="roundRect">
            <a:avLst>
              <a:gd name="adj" fmla="val 3125"/>
            </a:avLst>
          </a:prstGeom>
          <a:solidFill>
            <a:srgbClr val="E6F3F4"/>
          </a:solidFill>
          <a:ln w="9525">
            <a:solidFill>
              <a:srgbClr val="B9CBCB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005840" y="257860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zone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143000" y="288036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F1F6F6"/>
          </a:solidFill>
          <a:ln w="9525">
            <a:solidFill>
              <a:srgbClr val="C4D4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43584" y="292608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18488" y="288036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F1F6F6"/>
          </a:solidFill>
          <a:ln w="9525">
            <a:solidFill>
              <a:srgbClr val="C4D4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19072" y="292608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93976" y="288036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F1F6F6"/>
          </a:solidFill>
          <a:ln w="9525">
            <a:solidFill>
              <a:srgbClr val="C4D4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94560" y="2926080"/>
            <a:ext cx="182880" cy="1828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3000" y="329184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F1F6F6"/>
          </a:solidFill>
          <a:ln w="9525">
            <a:solidFill>
              <a:srgbClr val="C4D4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43584" y="333756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18488" y="329184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F1F6F6"/>
          </a:solidFill>
          <a:ln w="9525">
            <a:solidFill>
              <a:srgbClr val="C4D4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719072" y="3337560"/>
            <a:ext cx="182880" cy="1828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93976" y="329184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F1F6F6"/>
          </a:solidFill>
          <a:ln w="9525">
            <a:solidFill>
              <a:srgbClr val="C4D4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94560" y="333756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6160" y="2560320"/>
            <a:ext cx="2468880" cy="1463040"/>
          </a:xfrm>
          <a:prstGeom prst="roundRect">
            <a:avLst>
              <a:gd name="adj" fmla="val 3125"/>
            </a:avLst>
          </a:prstGeom>
          <a:solidFill>
            <a:srgbClr val="FFF9F0"/>
          </a:solidFill>
          <a:ln w="9525">
            <a:solidFill>
              <a:srgbClr val="B9CBCB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3611880" y="257860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zone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749040" y="288036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F1F6F6"/>
          </a:solidFill>
          <a:ln w="9525">
            <a:solidFill>
              <a:srgbClr val="C4D4D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49624" y="2926080"/>
            <a:ext cx="182880" cy="1828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24528" y="288036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F1F6F6"/>
          </a:solidFill>
          <a:ln w="9525">
            <a:solidFill>
              <a:srgbClr val="C4D4D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25112" y="292608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00016" y="288036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F1F6F6"/>
          </a:solidFill>
          <a:ln w="9525">
            <a:solidFill>
              <a:srgbClr val="C4D4D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00600" y="292608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749040" y="329184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F1F6F6"/>
          </a:solidFill>
          <a:ln w="9525">
            <a:solidFill>
              <a:srgbClr val="C4D4D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49624" y="333756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224528" y="329184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F1F6F6"/>
          </a:solidFill>
          <a:ln w="9525">
            <a:solidFill>
              <a:srgbClr val="C4D4D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25112" y="333756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00016" y="329184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F1F6F6"/>
          </a:solidFill>
          <a:ln w="9525">
            <a:solidFill>
              <a:srgbClr val="C4D4D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00600" y="3337560"/>
            <a:ext cx="182880" cy="182880"/>
          </a:xfrm>
          <a:prstGeom prst="ellipse">
            <a:avLst/>
          </a:prstGeom>
          <a:solidFill>
            <a:srgbClr val="9AA7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60120" y="4206240"/>
            <a:ext cx="1645920" cy="1463040"/>
          </a:xfrm>
          <a:prstGeom prst="roundRect">
            <a:avLst>
              <a:gd name="adj" fmla="val 3125"/>
            </a:avLst>
          </a:prstGeom>
          <a:solidFill>
            <a:srgbClr val="EFEAF6"/>
          </a:solidFill>
          <a:ln w="12700">
            <a:solidFill>
              <a:srgbClr val="B9A7D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60120" y="45262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MR-2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5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room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926080" y="4297680"/>
            <a:ext cx="3108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08960" y="43891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D-22 - available
</a:t>
            </a:r>
            <a:pPr indent="0" marL="0">
              <a:buNone/>
            </a:pPr>
            <a:r>
              <a:rPr lang="en-US" sz="9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desk - dual monitor - window
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108960" y="507492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54" name="Text 52"/>
          <p:cNvSpPr/>
          <p:nvPr/>
        </p:nvSpPr>
        <p:spPr>
          <a:xfrm>
            <a:off x="3108960" y="5074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D-22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446520" y="2468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446520" y="278892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93408" y="2743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46520" y="3136392"/>
            <a:ext cx="201168" cy="20116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93408" y="30906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Occupied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446520" y="3483864"/>
            <a:ext cx="201168" cy="20116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93408" y="343814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446520" y="3831336"/>
            <a:ext cx="201168" cy="201168"/>
          </a:xfrm>
          <a:prstGeom prst="ellipse">
            <a:avLst/>
          </a:prstGeom>
          <a:solidFill>
            <a:srgbClr val="9AA7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93408" y="37856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229600" y="1463040"/>
            <a:ext cx="3474720" cy="1078992"/>
          </a:xfrm>
          <a:prstGeom prst="roundRect">
            <a:avLst>
              <a:gd name="adj" fmla="val 5932"/>
            </a:avLst>
          </a:prstGeom>
          <a:solidFill>
            <a:srgbClr val="F5FAFA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366760" y="1536192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as first-class
</a:t>
            </a:r>
            <a:pPr indent="0" marL="0">
              <a:buNone/>
            </a:pPr>
            <a:r>
              <a:rPr lang="en-US" sz="10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neighborhoods rendered as tinted regions (WorkInSync/Skedda pattern)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8229600" y="2688336"/>
            <a:ext cx="3474720" cy="1078992"/>
          </a:xfrm>
          <a:prstGeom prst="roundRect">
            <a:avLst>
              <a:gd name="adj" fmla="val 5932"/>
            </a:avLst>
          </a:prstGeom>
          <a:solidFill>
            <a:srgbClr val="F5FAFA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366760" y="2761488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Popover, not page
</a:t>
            </a:r>
            <a:pPr indent="0" marL="0">
              <a:buNone/>
            </a:pPr>
            <a:r>
              <a:rPr lang="en-US" sz="10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details + one-tap book in place; booking sheet opens over the map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8229600" y="3913632"/>
            <a:ext cx="3474720" cy="1078992"/>
          </a:xfrm>
          <a:prstGeom prst="roundRect">
            <a:avLst>
              <a:gd name="adj" fmla="val 5932"/>
            </a:avLst>
          </a:prstGeom>
          <a:solidFill>
            <a:srgbClr val="F5FAFA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366760" y="3986784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by polling
</a:t>
            </a:r>
            <a:pPr indent="0" marL="0">
              <a:buNone/>
            </a:pPr>
            <a:r>
              <a:rPr lang="en-US" sz="10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10-15s refresh; skeleton shimmer while loading (anti-lag rule)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8229600" y="5138928"/>
            <a:ext cx="3474720" cy="1078992"/>
          </a:xfrm>
          <a:prstGeom prst="roundRect">
            <a:avLst>
              <a:gd name="adj" fmla="val 5932"/>
            </a:avLst>
          </a:prstGeom>
          <a:solidFill>
            <a:srgbClr val="F5FAFA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366760" y="52120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our CV pipeline
</a:t>
            </a:r>
            <a:pPr indent="0" marL="0">
              <a:buNone/>
            </a:pPr>
            <a:r>
              <a:rPr lang="en-US" sz="10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plans digitized via the existing OpenCV chair auto-detect - no competitor has this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3 - Booking sheet &amp; the check-in moment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is a sheet with smart defaults (max 3 decisions); check-in is one tap or one scan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02336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9050">
            <a:solidFill>
              <a:srgbClr val="B9CB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4023360" cy="292608"/>
          </a:xfrm>
          <a:prstGeom prst="rect">
            <a:avLst/>
          </a:prstGeom>
          <a:solidFill>
            <a:srgbClr val="EDF3F3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463040"/>
            <a:ext cx="109728" cy="109728"/>
          </a:xfrm>
          <a:prstGeom prst="ellipse">
            <a:avLst/>
          </a:prstGeom>
          <a:solidFill>
            <a:srgbClr val="C4D4D4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63040"/>
            <a:ext cx="109728" cy="109728"/>
          </a:xfrm>
          <a:prstGeom prst="ellipse">
            <a:avLst/>
          </a:prstGeom>
          <a:solidFill>
            <a:srgbClr val="C4D4D4"/>
          </a:solidFill>
          <a:ln/>
        </p:spPr>
      </p:sp>
      <p:sp>
        <p:nvSpPr>
          <p:cNvPr id="8" name="Shape 6"/>
          <p:cNvSpPr/>
          <p:nvPr/>
        </p:nvSpPr>
        <p:spPr>
          <a:xfrm>
            <a:off x="941832" y="1463040"/>
            <a:ext cx="109728" cy="109728"/>
          </a:xfrm>
          <a:prstGeom prst="ellipse">
            <a:avLst/>
          </a:prstGeom>
          <a:solidFill>
            <a:srgbClr val="C4D4D4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13898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sheet (over map)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82880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5875">
            <a:solidFill>
              <a:srgbClr val="C4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9659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Desk D-22
</a:t>
            </a:r>
            <a:pPr indent="0" marL="0">
              <a:buNone/>
            </a:pPr>
            <a:r>
              <a:rPr lang="en-US" sz="10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3 - HQ - Engineering zone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743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737360" y="2779776"/>
            <a:ext cx="2377440" cy="420624"/>
          </a:xfrm>
          <a:prstGeom prst="roundRect">
            <a:avLst>
              <a:gd name="adj" fmla="val 13043"/>
            </a:avLst>
          </a:prstGeom>
          <a:solidFill>
            <a:srgbClr val="F5FAFA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2779776"/>
            <a:ext cx="2240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20 Aug  (today)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345643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737360" y="3493008"/>
            <a:ext cx="2377440" cy="420624"/>
          </a:xfrm>
          <a:prstGeom prst="roundRect">
            <a:avLst>
              <a:gd name="adj" fmla="val 13043"/>
            </a:avLst>
          </a:prstGeom>
          <a:solidFill>
            <a:srgbClr val="F5FAFA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0" y="3493008"/>
            <a:ext cx="2240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9:00 - 18:00  (work hours)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416966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737360" y="4206240"/>
            <a:ext cx="2377440" cy="420624"/>
          </a:xfrm>
          <a:prstGeom prst="roundRect">
            <a:avLst>
              <a:gd name="adj" fmla="val 13043"/>
            </a:avLst>
          </a:prstGeom>
          <a:solidFill>
            <a:srgbClr val="F5FAFA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4206240"/>
            <a:ext cx="2240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repeat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4400" y="4983480"/>
            <a:ext cx="3200400" cy="502920"/>
          </a:xfrm>
          <a:prstGeom prst="roundRect">
            <a:avLst>
              <a:gd name="adj" fmla="val 49091"/>
            </a:avLst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983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- Desk D-22 - Thu 20 Aug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echoes desk + date (anti mismatch rule)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29200" y="1463040"/>
            <a:ext cx="2286000" cy="4846320"/>
          </a:xfrm>
          <a:prstGeom prst="roundRect">
            <a:avLst>
              <a:gd name="adj" fmla="val 10000"/>
            </a:avLst>
          </a:prstGeom>
          <a:solidFill>
            <a:srgbClr val="17323B"/>
          </a:solidFill>
          <a:ln/>
        </p:spPr>
      </p:sp>
      <p:sp>
        <p:nvSpPr>
          <p:cNvPr id="25" name="Shape 23"/>
          <p:cNvSpPr/>
          <p:nvPr/>
        </p:nvSpPr>
        <p:spPr>
          <a:xfrm>
            <a:off x="5138928" y="1600200"/>
            <a:ext cx="2066544" cy="4572000"/>
          </a:xfrm>
          <a:prstGeom prst="roundRect">
            <a:avLst>
              <a:gd name="adj" fmla="val 6637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230368" y="17373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desk QR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40680" y="2194560"/>
            <a:ext cx="1463040" cy="1463040"/>
          </a:xfrm>
          <a:prstGeom prst="roundRect">
            <a:avLst>
              <a:gd name="adj" fmla="val 3750"/>
            </a:avLst>
          </a:prstGeom>
          <a:solidFill>
            <a:srgbClr val="F1F6F6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59552" y="2313432"/>
            <a:ext cx="182880" cy="182880"/>
          </a:xfrm>
          <a:prstGeom prst="rect">
            <a:avLst/>
          </a:prstGeom>
          <a:solidFill>
            <a:srgbClr val="17323B"/>
          </a:solidFill>
          <a:ln/>
        </p:spPr>
      </p:sp>
      <p:sp>
        <p:nvSpPr>
          <p:cNvPr id="29" name="Shape 27"/>
          <p:cNvSpPr/>
          <p:nvPr/>
        </p:nvSpPr>
        <p:spPr>
          <a:xfrm>
            <a:off x="5559552" y="3054096"/>
            <a:ext cx="182880" cy="182880"/>
          </a:xfrm>
          <a:prstGeom prst="rect">
            <a:avLst/>
          </a:prstGeom>
          <a:solidFill>
            <a:srgbClr val="17323B"/>
          </a:solidFill>
          <a:ln/>
        </p:spPr>
      </p:sp>
      <p:sp>
        <p:nvSpPr>
          <p:cNvPr id="30" name="Shape 28"/>
          <p:cNvSpPr/>
          <p:nvPr/>
        </p:nvSpPr>
        <p:spPr>
          <a:xfrm>
            <a:off x="6053328" y="2560320"/>
            <a:ext cx="182880" cy="182880"/>
          </a:xfrm>
          <a:prstGeom prst="rect">
            <a:avLst/>
          </a:prstGeom>
          <a:solidFill>
            <a:srgbClr val="17323B"/>
          </a:solidFill>
          <a:ln/>
        </p:spPr>
      </p:sp>
      <p:sp>
        <p:nvSpPr>
          <p:cNvPr id="31" name="Shape 29"/>
          <p:cNvSpPr/>
          <p:nvPr/>
        </p:nvSpPr>
        <p:spPr>
          <a:xfrm>
            <a:off x="6053328" y="3300984"/>
            <a:ext cx="182880" cy="182880"/>
          </a:xfrm>
          <a:prstGeom prst="rect">
            <a:avLst/>
          </a:prstGeom>
          <a:solidFill>
            <a:srgbClr val="17323B"/>
          </a:solidFill>
          <a:ln/>
        </p:spPr>
      </p:sp>
      <p:sp>
        <p:nvSpPr>
          <p:cNvPr id="32" name="Shape 30"/>
          <p:cNvSpPr/>
          <p:nvPr/>
        </p:nvSpPr>
        <p:spPr>
          <a:xfrm>
            <a:off x="6300216" y="2313432"/>
            <a:ext cx="182880" cy="182880"/>
          </a:xfrm>
          <a:prstGeom prst="rect">
            <a:avLst/>
          </a:prstGeom>
          <a:solidFill>
            <a:srgbClr val="17323B"/>
          </a:solidFill>
          <a:ln/>
        </p:spPr>
      </p:sp>
      <p:sp>
        <p:nvSpPr>
          <p:cNvPr id="33" name="Shape 31"/>
          <p:cNvSpPr/>
          <p:nvPr/>
        </p:nvSpPr>
        <p:spPr>
          <a:xfrm>
            <a:off x="6300216" y="3054096"/>
            <a:ext cx="182880" cy="182880"/>
          </a:xfrm>
          <a:prstGeom prst="rect">
            <a:avLst/>
          </a:prstGeom>
          <a:solidFill>
            <a:srgbClr val="17323B"/>
          </a:solidFill>
          <a:ln/>
        </p:spPr>
      </p:sp>
      <p:sp>
        <p:nvSpPr>
          <p:cNvPr id="34" name="Text 32"/>
          <p:cNvSpPr/>
          <p:nvPr/>
        </p:nvSpPr>
        <p:spPr>
          <a:xfrm>
            <a:off x="5230368" y="379476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payload = stable desk ID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(printed once, survives rebooks)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349240" y="4480560"/>
            <a:ext cx="1645920" cy="777240"/>
          </a:xfrm>
          <a:prstGeom prst="roundRect">
            <a:avLst>
              <a:gd name="adj" fmla="val 11765"/>
            </a:avLst>
          </a:prstGeom>
          <a:solidFill>
            <a:srgbClr val="E8F8F3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40680" y="45262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in!
</a:t>
            </a:r>
            <a:pPr algn="ctr" indent="0" marL="0">
              <a:buNone/>
            </a:pPr>
            <a:r>
              <a:rPr lang="en-US" sz="9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D-14 - 9:04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20640" y="5440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echoes desk + time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726680" y="1463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email nudge (reuses our action-token mailer)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7726680" y="182880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F5FAFA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09560" y="19202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Check in by 9:15 - Desk D-14
</a:t>
            </a:r>
            <a:pPr indent="0" marL="0">
              <a:buNone/>
            </a:pPr>
            <a:r>
              <a:rPr lang="en-US" sz="105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Rishabh, your desk releases in 12 minutes.
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955280" y="306324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42" name="Text 40"/>
          <p:cNvSpPr/>
          <p:nvPr/>
        </p:nvSpPr>
        <p:spPr>
          <a:xfrm>
            <a:off x="7955280" y="3063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here - keep it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9555480" y="306324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555480" y="3063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my desk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726680" y="41148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keep/cancel from the email (Eptura's most-loved pattern - we already have the action-token infrastructure live for approvals).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726680" y="498348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E6F3F4"/>
          </a:solidFill>
          <a:ln/>
        </p:spPr>
      </p:sp>
      <p:sp>
        <p:nvSpPr>
          <p:cNvPr id="47" name="Text 45"/>
          <p:cNvSpPr/>
          <p:nvPr/>
        </p:nvSpPr>
        <p:spPr>
          <a:xfrm>
            <a:off x="7863840" y="507492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</a:t>
            </a:r>
            <a:pPr indent="0" marL="0">
              <a:buNone/>
            </a:pPr>
            <a:r>
              <a:rPr lang="en-US" sz="105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(sheet) -&gt; reminder T-15 -&gt; check in (tap / QR / email) -&gt; grace expires -&gt; released + notified -&gt; desk turns mint on everyone's map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4 - Mobile (responsive web, PWA-ready)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tab bar, thumb-reach actions; the check-in journey is the mobile hero flow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2423160" cy="4892040"/>
          </a:xfrm>
          <a:prstGeom prst="roundRect">
            <a:avLst>
              <a:gd name="adj" fmla="val 9434"/>
            </a:avLst>
          </a:prstGeom>
          <a:solidFill>
            <a:srgbClr val="17323B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554480"/>
            <a:ext cx="2203704" cy="4617720"/>
          </a:xfrm>
          <a:prstGeom prst="roundRect">
            <a:avLst>
              <a:gd name="adj" fmla="val 6224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2763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77824" y="5779008"/>
            <a:ext cx="530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426464" y="5779008"/>
            <a:ext cx="530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975104" y="5779008"/>
            <a:ext cx="530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523744" y="5779008"/>
            <a:ext cx="530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859536" y="5760720"/>
            <a:ext cx="2167128" cy="0"/>
          </a:xfrm>
          <a:prstGeom prst="line">
            <a:avLst/>
          </a:prstGeom>
          <a:noFill/>
          <a:ln w="9525">
            <a:solidFill>
              <a:srgbClr val="D8E6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201168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E6F3F4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084832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D-14 - Floor 3
</a:t>
            </a:r>
            <a:pPr indent="0" marL="0">
              <a:buNone/>
            </a:pPr>
            <a:r>
              <a:rPr lang="en-US" sz="8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9:00-18:00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3154680"/>
            <a:ext cx="2057400" cy="502920"/>
          </a:xfrm>
          <a:prstGeom prst="roundRect">
            <a:avLst>
              <a:gd name="adj" fmla="val 49091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1546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3794760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FFF4E8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7947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at 9:15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60120" y="4480560"/>
            <a:ext cx="365760" cy="365760"/>
          </a:xfrm>
          <a:prstGeom prst="ellipse">
            <a:avLst/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417320" y="4480560"/>
            <a:ext cx="365760" cy="365760"/>
          </a:xfrm>
          <a:prstGeom prst="ellipse">
            <a:avLst/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1732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874520" y="4480560"/>
            <a:ext cx="365760" cy="365760"/>
          </a:xfrm>
          <a:prstGeom prst="ellipse">
            <a:avLst/>
          </a:prstGeom>
          <a:solidFill>
            <a:srgbClr val="E6F3F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7452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566160" y="1417320"/>
            <a:ext cx="2423160" cy="4892040"/>
          </a:xfrm>
          <a:prstGeom prst="roundRect">
            <a:avLst>
              <a:gd name="adj" fmla="val 9434"/>
            </a:avLst>
          </a:prstGeom>
          <a:solidFill>
            <a:srgbClr val="17323B"/>
          </a:solidFill>
          <a:ln/>
        </p:spPr>
      </p:sp>
      <p:sp>
        <p:nvSpPr>
          <p:cNvPr id="25" name="Shape 23"/>
          <p:cNvSpPr/>
          <p:nvPr/>
        </p:nvSpPr>
        <p:spPr>
          <a:xfrm>
            <a:off x="3675888" y="1554480"/>
            <a:ext cx="2203704" cy="4617720"/>
          </a:xfrm>
          <a:prstGeom prst="roundRect">
            <a:avLst>
              <a:gd name="adj" fmla="val 6224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3749040" y="162763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map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12464" y="5779008"/>
            <a:ext cx="530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261104" y="5779008"/>
            <a:ext cx="530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09744" y="5779008"/>
            <a:ext cx="530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358384" y="5779008"/>
            <a:ext cx="530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694176" y="5760720"/>
            <a:ext cx="2167128" cy="0"/>
          </a:xfrm>
          <a:prstGeom prst="line">
            <a:avLst/>
          </a:prstGeom>
          <a:noFill/>
          <a:ln w="9525">
            <a:solidFill>
              <a:srgbClr val="D8E6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0" y="2011680"/>
            <a:ext cx="2057400" cy="3017520"/>
          </a:xfrm>
          <a:prstGeom prst="roundRect">
            <a:avLst>
              <a:gd name="adj" fmla="val 2222"/>
            </a:avLst>
          </a:prstGeom>
          <a:solidFill>
            <a:srgbClr val="FBFDFD"/>
          </a:solidFill>
          <a:ln w="9525">
            <a:solidFill>
              <a:srgbClr val="C4D4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13632" y="224028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F1F6F6"/>
          </a:solidFill>
          <a:ln w="9525">
            <a:solidFill>
              <a:srgbClr val="C4D4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014216" y="228600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89120" y="224028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F1F6F6"/>
          </a:solidFill>
          <a:ln w="9525">
            <a:solidFill>
              <a:srgbClr val="C4D4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89704" y="2286000"/>
            <a:ext cx="182880" cy="1828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64608" y="224028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F1F6F6"/>
          </a:solidFill>
          <a:ln w="9525">
            <a:solidFill>
              <a:srgbClr val="C4D4D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65192" y="228600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13632" y="265176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F1F6F6"/>
          </a:solidFill>
          <a:ln w="9525">
            <a:solidFill>
              <a:srgbClr val="C4D4D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014216" y="269748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0" y="265176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F1F6F6"/>
          </a:solidFill>
          <a:ln w="9525">
            <a:solidFill>
              <a:srgbClr val="C4D4D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89704" y="269748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64608" y="265176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F1F6F6"/>
          </a:solidFill>
          <a:ln w="9525">
            <a:solidFill>
              <a:srgbClr val="C4D4D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65192" y="2697480"/>
            <a:ext cx="182880" cy="1828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913632" y="306324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F1F6F6"/>
          </a:solidFill>
          <a:ln w="9525">
            <a:solidFill>
              <a:srgbClr val="C4D4D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014216" y="3108960"/>
            <a:ext cx="182880" cy="1828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389120" y="306324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F1F6F6"/>
          </a:solidFill>
          <a:ln w="9525">
            <a:solidFill>
              <a:srgbClr val="C4D4D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489704" y="310896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64608" y="306324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F1F6F6"/>
          </a:solidFill>
          <a:ln w="9525">
            <a:solidFill>
              <a:srgbClr val="C4D4D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965192" y="310896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913632" y="347472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F1F6F6"/>
          </a:solidFill>
          <a:ln w="9525">
            <a:solidFill>
              <a:srgbClr val="C4D4D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014216" y="352044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389120" y="347472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F1F6F6"/>
          </a:solidFill>
          <a:ln w="9525">
            <a:solidFill>
              <a:srgbClr val="C4D4D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489704" y="3520440"/>
            <a:ext cx="182880" cy="182880"/>
          </a:xfrm>
          <a:prstGeom prst="ellipse">
            <a:avLst/>
          </a:prstGeom>
          <a:solidFill>
            <a:srgbClr val="9AA7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64608" y="347472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F1F6F6"/>
          </a:solidFill>
          <a:ln w="9525">
            <a:solidFill>
              <a:srgbClr val="C4D4D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965192" y="352044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913632" y="388620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F1F6F6"/>
          </a:solidFill>
          <a:ln w="9525">
            <a:solidFill>
              <a:srgbClr val="C4D4D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014216" y="393192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389120" y="388620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F1F6F6"/>
          </a:solidFill>
          <a:ln w="9525">
            <a:solidFill>
              <a:srgbClr val="C4D4D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489704" y="393192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64608" y="388620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F1F6F6"/>
          </a:solidFill>
          <a:ln w="9525">
            <a:solidFill>
              <a:srgbClr val="C4D4D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965192" y="3931920"/>
            <a:ext cx="182880" cy="1828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749040" y="5120640"/>
            <a:ext cx="2057400" cy="502920"/>
          </a:xfrm>
          <a:prstGeom prst="roundRect">
            <a:avLst>
              <a:gd name="adj" fmla="val 49091"/>
            </a:avLst>
          </a:prstGeom>
          <a:solidFill>
            <a:srgbClr val="028090"/>
          </a:solidFill>
          <a:ln/>
        </p:spPr>
      </p:sp>
      <p:sp>
        <p:nvSpPr>
          <p:cNvPr id="64" name="Text 62"/>
          <p:cNvSpPr/>
          <p:nvPr/>
        </p:nvSpPr>
        <p:spPr>
          <a:xfrm>
            <a:off x="3749040" y="51206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D-22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400800" y="1417320"/>
            <a:ext cx="2423160" cy="4892040"/>
          </a:xfrm>
          <a:prstGeom prst="roundRect">
            <a:avLst>
              <a:gd name="adj" fmla="val 9434"/>
            </a:avLst>
          </a:prstGeom>
          <a:solidFill>
            <a:srgbClr val="17323B"/>
          </a:solidFill>
          <a:ln/>
        </p:spPr>
      </p:sp>
      <p:sp>
        <p:nvSpPr>
          <p:cNvPr id="66" name="Shape 64"/>
          <p:cNvSpPr/>
          <p:nvPr/>
        </p:nvSpPr>
        <p:spPr>
          <a:xfrm>
            <a:off x="6510528" y="1554480"/>
            <a:ext cx="2203704" cy="4617720"/>
          </a:xfrm>
          <a:prstGeom prst="roundRect">
            <a:avLst>
              <a:gd name="adj" fmla="val 6224"/>
            </a:avLst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6583680" y="162763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(QR)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547104" y="5779008"/>
            <a:ext cx="530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7095744" y="5779008"/>
            <a:ext cx="530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7644384" y="5779008"/>
            <a:ext cx="530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8193024" y="5779008"/>
            <a:ext cx="530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6528816" y="5760720"/>
            <a:ext cx="2167128" cy="0"/>
          </a:xfrm>
          <a:prstGeom prst="line">
            <a:avLst/>
          </a:prstGeom>
          <a:noFill/>
          <a:ln w="9525">
            <a:solidFill>
              <a:srgbClr val="D8E6E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720840" y="2148840"/>
            <a:ext cx="1554480" cy="1554480"/>
          </a:xfrm>
          <a:prstGeom prst="roundRect">
            <a:avLst>
              <a:gd name="adj" fmla="val 3529"/>
            </a:avLst>
          </a:prstGeom>
          <a:solidFill>
            <a:srgbClr val="F1F6F6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858000" y="2286000"/>
            <a:ext cx="219456" cy="219456"/>
          </a:xfrm>
          <a:prstGeom prst="rect">
            <a:avLst/>
          </a:prstGeom>
          <a:solidFill>
            <a:srgbClr val="17323B"/>
          </a:solidFill>
          <a:ln/>
        </p:spPr>
      </p:sp>
      <p:sp>
        <p:nvSpPr>
          <p:cNvPr id="75" name="Shape 73"/>
          <p:cNvSpPr/>
          <p:nvPr/>
        </p:nvSpPr>
        <p:spPr>
          <a:xfrm>
            <a:off x="6858000" y="2926080"/>
            <a:ext cx="219456" cy="219456"/>
          </a:xfrm>
          <a:prstGeom prst="rect">
            <a:avLst/>
          </a:prstGeom>
          <a:solidFill>
            <a:srgbClr val="17323B"/>
          </a:solidFill>
          <a:ln/>
        </p:spPr>
      </p:sp>
      <p:sp>
        <p:nvSpPr>
          <p:cNvPr id="76" name="Shape 74"/>
          <p:cNvSpPr/>
          <p:nvPr/>
        </p:nvSpPr>
        <p:spPr>
          <a:xfrm>
            <a:off x="7178040" y="2606040"/>
            <a:ext cx="219456" cy="219456"/>
          </a:xfrm>
          <a:prstGeom prst="rect">
            <a:avLst/>
          </a:prstGeom>
          <a:solidFill>
            <a:srgbClr val="17323B"/>
          </a:solidFill>
          <a:ln/>
        </p:spPr>
      </p:sp>
      <p:sp>
        <p:nvSpPr>
          <p:cNvPr id="77" name="Shape 75"/>
          <p:cNvSpPr/>
          <p:nvPr/>
        </p:nvSpPr>
        <p:spPr>
          <a:xfrm>
            <a:off x="7178040" y="3246120"/>
            <a:ext cx="219456" cy="219456"/>
          </a:xfrm>
          <a:prstGeom prst="rect">
            <a:avLst/>
          </a:prstGeom>
          <a:solidFill>
            <a:srgbClr val="17323B"/>
          </a:solidFill>
          <a:ln/>
        </p:spPr>
      </p:sp>
      <p:sp>
        <p:nvSpPr>
          <p:cNvPr id="78" name="Shape 76"/>
          <p:cNvSpPr/>
          <p:nvPr/>
        </p:nvSpPr>
        <p:spPr>
          <a:xfrm>
            <a:off x="7498080" y="2286000"/>
            <a:ext cx="219456" cy="219456"/>
          </a:xfrm>
          <a:prstGeom prst="rect">
            <a:avLst/>
          </a:prstGeom>
          <a:solidFill>
            <a:srgbClr val="17323B"/>
          </a:solidFill>
          <a:ln/>
        </p:spPr>
      </p:sp>
      <p:sp>
        <p:nvSpPr>
          <p:cNvPr id="79" name="Shape 77"/>
          <p:cNvSpPr/>
          <p:nvPr/>
        </p:nvSpPr>
        <p:spPr>
          <a:xfrm>
            <a:off x="7498080" y="2926080"/>
            <a:ext cx="219456" cy="219456"/>
          </a:xfrm>
          <a:prstGeom prst="rect">
            <a:avLst/>
          </a:prstGeom>
          <a:solidFill>
            <a:srgbClr val="17323B"/>
          </a:solidFill>
          <a:ln/>
        </p:spPr>
      </p:sp>
      <p:sp>
        <p:nvSpPr>
          <p:cNvPr id="80" name="Shape 78"/>
          <p:cNvSpPr/>
          <p:nvPr/>
        </p:nvSpPr>
        <p:spPr>
          <a:xfrm>
            <a:off x="7818120" y="2606040"/>
            <a:ext cx="219456" cy="219456"/>
          </a:xfrm>
          <a:prstGeom prst="rect">
            <a:avLst/>
          </a:prstGeom>
          <a:solidFill>
            <a:srgbClr val="17323B"/>
          </a:solidFill>
          <a:ln/>
        </p:spPr>
      </p:sp>
      <p:sp>
        <p:nvSpPr>
          <p:cNvPr id="81" name="Shape 79"/>
          <p:cNvSpPr/>
          <p:nvPr/>
        </p:nvSpPr>
        <p:spPr>
          <a:xfrm>
            <a:off x="7818120" y="3246120"/>
            <a:ext cx="219456" cy="219456"/>
          </a:xfrm>
          <a:prstGeom prst="rect">
            <a:avLst/>
          </a:prstGeom>
          <a:solidFill>
            <a:srgbClr val="17323B"/>
          </a:solidFill>
          <a:ln/>
        </p:spPr>
      </p:sp>
      <p:sp>
        <p:nvSpPr>
          <p:cNvPr id="82" name="Shape 80"/>
          <p:cNvSpPr/>
          <p:nvPr/>
        </p:nvSpPr>
        <p:spPr>
          <a:xfrm>
            <a:off x="6675120" y="3977640"/>
            <a:ext cx="1691640" cy="731520"/>
          </a:xfrm>
          <a:prstGeom prst="roundRect">
            <a:avLst>
              <a:gd name="adj" fmla="val 10000"/>
            </a:avLst>
          </a:prstGeom>
          <a:solidFill>
            <a:srgbClr val="E8F8F3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720840" y="40233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in
</a:t>
            </a:r>
            <a:pPr algn="ctr" indent="0" marL="0">
              <a:buNone/>
            </a:pPr>
            <a:r>
              <a:rPr lang="en-US" sz="8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D-14 - 9:04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9052560" y="1463040"/>
            <a:ext cx="2697480" cy="1078992"/>
          </a:xfrm>
          <a:prstGeom prst="roundRect">
            <a:avLst>
              <a:gd name="adj" fmla="val 5932"/>
            </a:avLst>
          </a:prstGeom>
          <a:solidFill>
            <a:srgbClr val="F5FAFA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162288" y="1517904"/>
            <a:ext cx="24688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web first
</a:t>
            </a:r>
            <a:pPr indent="0" marL="0">
              <a:buNone/>
            </a:pPr>
            <a:r>
              <a:rPr lang="en-US" sz="95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4 literally asks for mobile-responsive; PWA install gives app feel without app-store risk (Bookker/NeOffice cautionary tales)</a:t>
            </a:r>
            <a:endParaRPr lang="en-US" sz="1150" dirty="0"/>
          </a:p>
        </p:txBody>
      </p:sp>
      <p:sp>
        <p:nvSpPr>
          <p:cNvPr id="86" name="Shape 84"/>
          <p:cNvSpPr/>
          <p:nvPr/>
        </p:nvSpPr>
        <p:spPr>
          <a:xfrm>
            <a:off x="9052560" y="2688336"/>
            <a:ext cx="2697480" cy="1078992"/>
          </a:xfrm>
          <a:prstGeom prst="roundRect">
            <a:avLst>
              <a:gd name="adj" fmla="val 5932"/>
            </a:avLst>
          </a:prstGeom>
          <a:solidFill>
            <a:srgbClr val="F5FAFA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162288" y="2743200"/>
            <a:ext cx="24688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is a first-class tab
</a:t>
            </a:r>
            <a:pPr indent="0" marL="0">
              <a:buNone/>
            </a:pPr>
            <a:r>
              <a:rPr lang="en-US" sz="95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is the most frequent mobile action - one tap from anywhere</a:t>
            </a:r>
            <a:endParaRPr lang="en-US" sz="1150" dirty="0"/>
          </a:p>
        </p:txBody>
      </p:sp>
      <p:sp>
        <p:nvSpPr>
          <p:cNvPr id="88" name="Shape 86"/>
          <p:cNvSpPr/>
          <p:nvPr/>
        </p:nvSpPr>
        <p:spPr>
          <a:xfrm>
            <a:off x="9052560" y="3913632"/>
            <a:ext cx="2697480" cy="1078992"/>
          </a:xfrm>
          <a:prstGeom prst="roundRect">
            <a:avLst>
              <a:gd name="adj" fmla="val 5932"/>
            </a:avLst>
          </a:prstGeom>
          <a:solidFill>
            <a:srgbClr val="F5FAFA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162288" y="3968496"/>
            <a:ext cx="24688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Thumb-zone CTAs
</a:t>
            </a:r>
            <a:pPr indent="0" marL="0">
              <a:buNone/>
            </a:pPr>
            <a:r>
              <a:rPr lang="en-US" sz="95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buttons pinned to the lower half; tab bar max 4 items</a:t>
            </a:r>
            <a:endParaRPr lang="en-US" sz="1150" dirty="0"/>
          </a:p>
        </p:txBody>
      </p:sp>
      <p:sp>
        <p:nvSpPr>
          <p:cNvPr id="90" name="Shape 88"/>
          <p:cNvSpPr/>
          <p:nvPr/>
        </p:nvSpPr>
        <p:spPr>
          <a:xfrm>
            <a:off x="9052560" y="5138928"/>
            <a:ext cx="2697480" cy="1078992"/>
          </a:xfrm>
          <a:prstGeom prst="roundRect">
            <a:avLst>
              <a:gd name="adj" fmla="val 5932"/>
            </a:avLst>
          </a:prstGeom>
          <a:solidFill>
            <a:srgbClr val="F5FAFA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162288" y="5193792"/>
            <a:ext cx="24688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budget
</a:t>
            </a:r>
            <a:pPr indent="0" marL="0">
              <a:buNone/>
            </a:pPr>
            <a:r>
              <a:rPr lang="en-US" sz="95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&lt; 200 KB, skeleton loaders, offline-tolerant scan page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5 - Admin: occupancy &amp; release monitoring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+ trend + released feed; Eptura-depth data in Skedda-clean visuals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786384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9050">
            <a:solidFill>
              <a:srgbClr val="B9CB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7863840" cy="292608"/>
          </a:xfrm>
          <a:prstGeom prst="rect">
            <a:avLst/>
          </a:prstGeom>
          <a:solidFill>
            <a:srgbClr val="EDF3F3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463040"/>
            <a:ext cx="109728" cy="109728"/>
          </a:xfrm>
          <a:prstGeom prst="ellipse">
            <a:avLst/>
          </a:prstGeom>
          <a:solidFill>
            <a:srgbClr val="C4D4D4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63040"/>
            <a:ext cx="109728" cy="109728"/>
          </a:xfrm>
          <a:prstGeom prst="ellipse">
            <a:avLst/>
          </a:prstGeom>
          <a:solidFill>
            <a:srgbClr val="C4D4D4"/>
          </a:solidFill>
          <a:ln/>
        </p:spPr>
      </p:sp>
      <p:sp>
        <p:nvSpPr>
          <p:cNvPr id="8" name="Shape 6"/>
          <p:cNvSpPr/>
          <p:nvPr/>
        </p:nvSpPr>
        <p:spPr>
          <a:xfrm>
            <a:off x="941832" y="1463040"/>
            <a:ext cx="109728" cy="109728"/>
          </a:xfrm>
          <a:prstGeom prst="ellipse">
            <a:avLst/>
          </a:prstGeom>
          <a:solidFill>
            <a:srgbClr val="C4D4D4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1389888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socampus.app / admin / dashboard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77240" y="182880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5FAFA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1901952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
</a:t>
            </a:r>
            <a:pPr indent="0" marL="0">
              <a:buNone/>
            </a:pPr>
            <a:r>
              <a:rPr lang="en-US" sz="9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today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651760" y="182880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5FAFA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1901952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
</a:t>
            </a:r>
            <a:pPr indent="0" marL="0">
              <a:buNone/>
            </a:pPr>
            <a:r>
              <a:rPr lang="en-US" sz="9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today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26280" y="182880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5FAFA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36008" y="1901952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
</a:t>
            </a:r>
            <a:pPr indent="0" marL="0">
              <a:buNone/>
            </a:pPr>
            <a:r>
              <a:rPr lang="en-US" sz="9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rate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400800" y="182880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5FAFA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901952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12:30
</a:t>
            </a:r>
            <a:pPr indent="0" marL="0">
              <a:buNone/>
            </a:pPr>
            <a:r>
              <a:rPr lang="en-US" sz="9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</a:t>
            </a:r>
            <a:endParaRPr lang="en-US" sz="22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777240" y="3108960"/>
          <a:ext cx="37490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/>
          <p:nvPr/>
        </p:nvSpPr>
        <p:spPr>
          <a:xfrm>
            <a:off x="4754880" y="3108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bookings - live feed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54880" y="3456432"/>
            <a:ext cx="3383280" cy="548640"/>
          </a:xfrm>
          <a:prstGeom prst="roundRect">
            <a:avLst>
              <a:gd name="adj" fmla="val 10000"/>
            </a:avLst>
          </a:prstGeom>
          <a:solidFill>
            <a:srgbClr val="FDF0EC"/>
          </a:solidFill>
          <a:ln w="9525">
            <a:solidFill>
              <a:srgbClr val="E4D5D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92040" y="3456432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9:16  </a:t>
            </a:r>
            <a:pPr indent="0" marL="0">
              <a:buNone/>
            </a:pPr>
            <a:r>
              <a:rPr lang="en-US" sz="95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D-14 - R. Azad - no check-in (grace 15m)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754880" y="4114800"/>
            <a:ext cx="3383280" cy="548640"/>
          </a:xfrm>
          <a:prstGeom prst="roundRect">
            <a:avLst>
              <a:gd name="adj" fmla="val 10000"/>
            </a:avLst>
          </a:prstGeom>
          <a:solidFill>
            <a:srgbClr val="F5FAFA"/>
          </a:solidFill>
          <a:ln w="9525">
            <a:solidFill>
              <a:srgbClr val="E4D5D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92040" y="411480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9:31  </a:t>
            </a:r>
            <a:pPr indent="0" marL="0">
              <a:buNone/>
            </a:pPr>
            <a:r>
              <a:rPr lang="en-US" sz="95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D-07 - park desk - no check-in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754880" y="4773168"/>
            <a:ext cx="3383280" cy="548640"/>
          </a:xfrm>
          <a:prstGeom prst="roundRect">
            <a:avLst>
              <a:gd name="adj" fmla="val 10000"/>
            </a:avLst>
          </a:prstGeom>
          <a:solidFill>
            <a:srgbClr val="F5FAFA"/>
          </a:solidFill>
          <a:ln w="9525">
            <a:solidFill>
              <a:srgbClr val="E4D5D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92040" y="4773168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10:02  </a:t>
            </a:r>
            <a:pPr indent="0" marL="0">
              <a:buNone/>
            </a:pPr>
            <a:r>
              <a:rPr lang="en-US" sz="95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MR-2 - released early by admin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754880" y="5486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links to its audit trail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8641080" y="1645920"/>
            <a:ext cx="3063240" cy="1280160"/>
          </a:xfrm>
          <a:prstGeom prst="roundRect">
            <a:avLst>
              <a:gd name="adj" fmla="val 5000"/>
            </a:avLst>
          </a:prstGeom>
          <a:solidFill>
            <a:srgbClr val="F5FAFA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778240" y="1719072"/>
            <a:ext cx="278892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4 max
</a:t>
            </a:r>
            <a:pPr indent="0" marL="0">
              <a:buNone/>
            </a:pPr>
            <a:r>
              <a:rPr lang="en-US" sz="10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Occupancy, releases, check-in rate, peak - the numbers admins act on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641080" y="3108960"/>
            <a:ext cx="3063240" cy="1280160"/>
          </a:xfrm>
          <a:prstGeom prst="roundRect">
            <a:avLst>
              <a:gd name="adj" fmla="val 5000"/>
            </a:avLst>
          </a:prstGeom>
          <a:solidFill>
            <a:srgbClr val="F5FAFA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778240" y="3182112"/>
            <a:ext cx="278892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 by dimension
</a:t>
            </a:r>
            <a:pPr indent="0" marL="0">
              <a:buNone/>
            </a:pPr>
            <a:r>
              <a:rPr lang="en-US" sz="10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-&gt; floor -&gt; dept/BU cuts (HReVO join); Excel/PDF export on every view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641080" y="4572000"/>
            <a:ext cx="3063240" cy="1280160"/>
          </a:xfrm>
          <a:prstGeom prst="roundRect">
            <a:avLst>
              <a:gd name="adj" fmla="val 5000"/>
            </a:avLst>
          </a:prstGeom>
          <a:solidFill>
            <a:srgbClr val="F5FAFA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778240" y="4645152"/>
            <a:ext cx="278892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feed = trust
</a:t>
            </a:r>
            <a:pPr indent="0" marL="0">
              <a:buNone/>
            </a:pPr>
            <a:r>
              <a:rPr lang="en-US" sz="10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evidence of the sweeper working; log-only vs enforce toggle visible here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4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 &amp; Figma 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0F5D6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89888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E0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= meaning
</a:t>
            </a:r>
            <a:pPr indent="0" marL="0">
              <a:buNone/>
            </a:pPr>
            <a:r>
              <a:rPr lang="en-US" sz="1100" dirty="0">
                <a:solidFill>
                  <a:srgbClr val="D9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 only ever means available; coral only occupied. No decorative use of state colors.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0" y="128016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0F5D6C"/>
          </a:solidFill>
          <a:ln/>
        </p:spPr>
      </p:sp>
      <p:sp>
        <p:nvSpPr>
          <p:cNvPr id="6" name="Text 4"/>
          <p:cNvSpPr/>
          <p:nvPr/>
        </p:nvSpPr>
        <p:spPr>
          <a:xfrm>
            <a:off x="6537960" y="1389888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E0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loudly
</a:t>
            </a:r>
            <a:pPr indent="0" marL="0">
              <a:buNone/>
            </a:pPr>
            <a:r>
              <a:rPr lang="en-US" sz="1100" dirty="0">
                <a:solidFill>
                  <a:srgbClr val="D9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confirmation repeats desk + date + time. Silence caused the worst competitor reviews.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69748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0F5D6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807208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E0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action per moment
</a:t>
            </a:r>
            <a:pPr indent="0" marL="0">
              <a:buNone/>
            </a:pPr>
            <a:r>
              <a:rPr lang="en-US" sz="1100" dirty="0">
                <a:solidFill>
                  <a:srgbClr val="D9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shows the single next action (book / check in / nothing). Everything else is one level down.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269748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0F5D6C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2807208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E0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beats fancy
</a:t>
            </a:r>
            <a:pPr indent="0" marL="0">
              <a:buNone/>
            </a:pPr>
            <a:r>
              <a:rPr lang="en-US" sz="1100" dirty="0">
                <a:solidFill>
                  <a:srgbClr val="D9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Skeletons, &lt;200 KB maps, no blocking first-run steps. We win where their apps lag.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4343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handoff plan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4754880"/>
            <a:ext cx="11155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D9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Create Figma library from Slide 5 tokens (colors, type, chips, banners, KPI cards, desk-state dots)
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D9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Frame the five screens in this deck as desktop (1440) + mobile (390) artboards
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D9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Prototype the hero flow: home -&gt; map -&gt; booking sheet -&gt; check-in -&gt; release notice
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D9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Usability pass against the five anti-patterns (Slide 4) before dev handoff in Sprint 3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2026-08-22T04:49:59Z</dcterms:created>
  <dcterms:modified xsi:type="dcterms:W3CDTF">2026-08-22T04:49:59Z</dcterms:modified>
</cp:coreProperties>
</file>